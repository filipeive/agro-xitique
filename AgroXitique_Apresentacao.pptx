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2B788"/>
          </a:solidFill>
          <a:ln/>
        </p:spPr>
      </p:sp>
      <p:pic>
        <p:nvPicPr>
          <p:cNvPr id="3" name="Image 0" descr="assets/impact_her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0" y="0"/>
            <a:ext cx="36576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0" y="0"/>
            <a:ext cx="45720" cy="514350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5" name="Shape 2"/>
          <p:cNvSpPr/>
          <p:nvPr/>
        </p:nvSpPr>
        <p:spPr>
          <a:xfrm>
            <a:off x="457200" y="502920"/>
            <a:ext cx="2926080" cy="347472"/>
          </a:xfrm>
          <a:prstGeom prst="roundRect">
            <a:avLst>
              <a:gd name="adj" fmla="val 13158"/>
            </a:avLst>
          </a:prstGeom>
          <a:solidFill>
            <a:srgbClr val="F4A261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50292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4332"/>
                </a:solidFill>
              </a:rPr>
              <a:t>Mini Finckathon 2025 · UniLicungo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1051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AgroXitique</a:t>
            </a:r>
            <a:endParaRPr lang="en-US" sz="6400" dirty="0"/>
          </a:p>
        </p:txBody>
      </p:sp>
      <p:sp>
        <p:nvSpPr>
          <p:cNvPr id="8" name="Text 5"/>
          <p:cNvSpPr/>
          <p:nvPr/>
        </p:nvSpPr>
        <p:spPr>
          <a:xfrm>
            <a:off x="457200" y="237744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F4A261"/>
                </a:solidFill>
              </a:rPr>
              <a:t>Raízes Digitais.</a:t>
            </a:r>
            <a:endParaRPr lang="en-US" sz="2400" dirty="0"/>
          </a:p>
          <a:p>
            <a:pPr indent="0" marL="0">
              <a:buNone/>
            </a:pPr>
            <a:r>
              <a:rPr lang="en-US" sz="2400" i="1" dirty="0">
                <a:solidFill>
                  <a:srgbClr val="F4A261"/>
                </a:solidFill>
              </a:rPr>
              <a:t>Colheitas Reais.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457200" y="34747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F3DC"/>
                </a:solidFill>
              </a:rPr>
              <a:t>Poupança e Crédito Colectivo via M-Pesa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57200" y="411480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</a:rPr>
              <a:t>Equipa: </a:t>
            </a:r>
            <a:pPr indent="0" marL="0">
              <a:buNone/>
            </a:pPr>
            <a:r>
              <a:rPr lang="en-US" sz="1200" dirty="0">
                <a:solidFill>
                  <a:srgbClr val="D8F3DC"/>
                </a:solidFill>
              </a:rPr>
              <a:t>LicungoLab (UniLicungo)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Desafio Rural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5603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assets/icon_commun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1645920"/>
            <a:ext cx="914400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27432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D6A4F"/>
                </a:solidFill>
              </a:rPr>
              <a:t>2,8%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457200" y="347472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Crédito que chega ao campo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291840" y="1463040"/>
            <a:ext cx="25603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9" name="Image 1" descr="assets/icon_securit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645920"/>
            <a:ext cx="914400" cy="9144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291840" y="27432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77622"/>
                </a:solidFill>
              </a:rPr>
              <a:t>Zero</a:t>
            </a:r>
            <a:endParaRPr lang="en-US" sz="3200" dirty="0"/>
          </a:p>
        </p:txBody>
      </p:sp>
      <p:sp>
        <p:nvSpPr>
          <p:cNvPr id="11" name="Text 7"/>
          <p:cNvSpPr/>
          <p:nvPr/>
        </p:nvSpPr>
        <p:spPr>
          <a:xfrm>
            <a:off x="3291840" y="347472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Histórico financeiro digital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126480" y="1463040"/>
            <a:ext cx="25603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3" name="Image 2" descr="assets/icon_communit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1645920"/>
            <a:ext cx="914400" cy="9144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126480" y="27432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C2626"/>
                </a:solidFill>
              </a:rPr>
              <a:t>92%</a:t>
            </a:r>
            <a:endParaRPr lang="en-US" sz="3200" dirty="0"/>
          </a:p>
        </p:txBody>
      </p:sp>
      <p:sp>
        <p:nvSpPr>
          <p:cNvPr id="15" name="Text 10"/>
          <p:cNvSpPr/>
          <p:nvPr/>
        </p:nvSpPr>
        <p:spPr>
          <a:xfrm>
            <a:off x="6126480" y="347472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Dependência de informais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Segurança e Simplicidade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74320" y="1143000"/>
            <a:ext cx="3474720" cy="3566160"/>
          </a:xfrm>
          <a:prstGeom prst="roundRect">
            <a:avLst>
              <a:gd name="adj" fmla="val 3947"/>
            </a:avLst>
          </a:prstGeom>
          <a:solidFill>
            <a:srgbClr val="111827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508760"/>
            <a:ext cx="28346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2B7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AgroXitique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Introduza o PIN:
</a:t>
            </a:r>
            <a:endParaRPr lang="en-US" sz="11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****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Consultar Poupança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Fazer Contribuição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Pedir Crédito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 Voltar</a:t>
            </a:r>
            <a:endParaRPr lang="en-US" sz="1100" dirty="0"/>
          </a:p>
        </p:txBody>
      </p:sp>
      <p:pic>
        <p:nvPicPr>
          <p:cNvPr id="5" name="Image 0" descr="assets/icon_secur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128016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54880" y="11887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261"/>
                </a:solidFill>
              </a:rPr>
              <a:t>ID &amp; PIN M-Pesa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754880" y="155448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F3DC"/>
                </a:solidFill>
              </a:rPr>
              <a:t>Acesso protegido por autenticação de dois factores.</a:t>
            </a:r>
            <a:endParaRPr lang="en-US" sz="1100" dirty="0"/>
          </a:p>
        </p:txBody>
      </p:sp>
      <p:pic>
        <p:nvPicPr>
          <p:cNvPr id="8" name="Image 1" descr="assets/icon_communit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2468880"/>
            <a:ext cx="548640" cy="5486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754880" y="23774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261"/>
                </a:solidFill>
              </a:rPr>
              <a:t>Gestão de Círculo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4754880" y="274320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F3DC"/>
                </a:solidFill>
              </a:rPr>
              <a:t>Poupança colectiva gerida por regras comunitárias.</a:t>
            </a:r>
            <a:endParaRPr lang="en-US" sz="1100" dirty="0"/>
          </a:p>
        </p:txBody>
      </p:sp>
      <p:pic>
        <p:nvPicPr>
          <p:cNvPr id="11" name="Image 2" descr="assets/icon_securit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3657600"/>
            <a:ext cx="548640" cy="5486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754880" y="35661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261"/>
                </a:solidFill>
              </a:rPr>
              <a:t>Score Haskell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4754880" y="393192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F3DC"/>
                </a:solidFill>
              </a:rPr>
              <a:t>Algoritmos auditáveis calculam o risco em tempo real.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Haskell: O Motor da Confiança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8229600" cy="45720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Porquê Programação Funcional no AgroXitique?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182880" cy="18288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94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8F3DC"/>
                </a:solidFill>
              </a:rPr>
              <a:t>Integridade Financeira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514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Funções puras eliminam erros de estado e transacções inválidas.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3200400"/>
            <a:ext cx="182880" cy="18288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108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8F3DC"/>
                </a:solidFill>
              </a:rPr>
              <a:t>Cálculo de Score Auditável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3429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O risco é calculado por uma lógica matemática transparente e rigorosa.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4114800"/>
            <a:ext cx="182880" cy="18288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023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8F3DC"/>
                </a:solidFill>
              </a:rPr>
              <a:t>Inovação Académica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4343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Uso de tecnologias de ponta para resolver problemas de base em Moçambique.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LicungoLab: Ciência de Dados ao serviço do agricultor.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AgroXitique - Mini Finckathon 2025</dc:title>
  <dc:subject>PptxGenJS Presentation</dc:subject>
  <dc:creator>PptxGenJS</dc:creator>
  <cp:lastModifiedBy>PptxGenJS</cp:lastModifiedBy>
  <cp:revision>1</cp:revision>
  <dcterms:created xsi:type="dcterms:W3CDTF">2026-05-06T07:24:31Z</dcterms:created>
  <dcterms:modified xsi:type="dcterms:W3CDTF">2026-05-06T07:24:31Z</dcterms:modified>
</cp:coreProperties>
</file>